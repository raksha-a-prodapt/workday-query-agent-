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855a528d1_2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f855a528d1_2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f855a528d1_2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855a528d1_2_2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3f855a528d1_2_2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f855a528d1_2_2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855a528d1_2_5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f855a528d1_2_5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f855a528d1_2_5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855a528d1_2_9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f855a528d1_2_9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f855a528d1_2_9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855a528d1_2_10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f855a528d1_2_10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f855a528d1_2_10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855a528d1_2_14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f855a528d1_2_14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f855a528d1_2_14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f855a528d1_2_17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f855a528d1_2_17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f855a528d1_2_17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855a528d1_2_19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g3f855a528d1_2_19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f855a528d1_2_19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5" Type="http://schemas.openxmlformats.org/officeDocument/2006/relationships/image" Target="../media/image17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13.png"/><Relationship Id="rId8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E33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6583680" y="2194560"/>
            <a:ext cx="4251960" cy="4251960"/>
          </a:xfrm>
          <a:prstGeom prst="ellipse">
            <a:avLst/>
          </a:prstGeom>
          <a:solidFill>
            <a:srgbClr val="028090">
              <a:alpha val="2196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7269480" y="2880360"/>
            <a:ext cx="3154680" cy="3154680"/>
          </a:xfrm>
          <a:prstGeom prst="ellipse">
            <a:avLst/>
          </a:prstGeom>
          <a:solidFill>
            <a:srgbClr val="00A896">
              <a:alpha val="2509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7886700" y="3497580"/>
            <a:ext cx="2057400" cy="2057400"/>
          </a:xfrm>
          <a:prstGeom prst="ellipse">
            <a:avLst/>
          </a:prstGeom>
          <a:solidFill>
            <a:srgbClr val="02C39A">
              <a:alpha val="3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480060" y="1062990"/>
            <a:ext cx="6172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AGENTIC AI &amp; RAG CAPSTONE  ·  PROBLEM STATEMENT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445770" y="1405890"/>
            <a:ext cx="72009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mbria"/>
              <a:buNone/>
            </a:pPr>
            <a:r>
              <a:rPr b="1" i="0" lang="en-GB" sz="3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Workday Data Query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mbria"/>
              <a:buNone/>
            </a:pPr>
            <a:r>
              <a:rPr b="1" i="0" lang="en-GB" sz="3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and Reporting Agent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466344" y="2846070"/>
            <a:ext cx="658368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FE8E6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CFE8E6"/>
                </a:solidFill>
                <a:latin typeface="Calibri"/>
                <a:ea typeface="Calibri"/>
                <a:cs typeface="Calibri"/>
                <a:sym typeface="Calibri"/>
              </a:rPr>
              <a:t>A natural-language-to-SQL agent that turns ad hoc HR questions into validated,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FE8E6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CFE8E6"/>
                </a:solidFill>
                <a:latin typeface="Calibri"/>
                <a:ea typeface="Calibri"/>
                <a:cs typeface="Calibri"/>
                <a:sym typeface="Calibri"/>
              </a:rPr>
              <a:t>schema-grounded answers — in minutes, not days.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466344" y="4491990"/>
            <a:ext cx="672084" cy="288036"/>
          </a:xfrm>
          <a:prstGeom prst="roundRect">
            <a:avLst>
              <a:gd fmla="val 19048" name="adj"/>
            </a:avLst>
          </a:prstGeom>
          <a:solidFill>
            <a:srgbClr val="FFFFFF">
              <a:alpha val="7843"/>
            </a:srgbClr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/>
          <p:nvPr/>
        </p:nvSpPr>
        <p:spPr>
          <a:xfrm>
            <a:off x="466344" y="4491990"/>
            <a:ext cx="672084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8E6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CFE8E6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1261872" y="4491990"/>
            <a:ext cx="809244" cy="288036"/>
          </a:xfrm>
          <a:prstGeom prst="roundRect">
            <a:avLst>
              <a:gd fmla="val 19048" name="adj"/>
            </a:avLst>
          </a:prstGeom>
          <a:solidFill>
            <a:srgbClr val="FFFFFF">
              <a:alpha val="7843"/>
            </a:srgbClr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/>
          <p:nvPr/>
        </p:nvSpPr>
        <p:spPr>
          <a:xfrm>
            <a:off x="1261872" y="4491990"/>
            <a:ext cx="809244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8E6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CFE8E6"/>
                </a:solidFill>
                <a:latin typeface="Calibri"/>
                <a:ea typeface="Calibri"/>
                <a:cs typeface="Calibri"/>
                <a:sym typeface="Calibri"/>
              </a:rPr>
              <a:t>LangGraph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2194560" y="4491990"/>
            <a:ext cx="740664" cy="288036"/>
          </a:xfrm>
          <a:prstGeom prst="roundRect">
            <a:avLst>
              <a:gd fmla="val 19048" name="adj"/>
            </a:avLst>
          </a:prstGeom>
          <a:solidFill>
            <a:srgbClr val="FFFFFF">
              <a:alpha val="7843"/>
            </a:srgbClr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2194560" y="4491990"/>
            <a:ext cx="740664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8E6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CFE8E6"/>
                </a:solidFill>
                <a:latin typeface="Calibri"/>
                <a:ea typeface="Calibri"/>
                <a:cs typeface="Calibri"/>
                <a:sym typeface="Calibri"/>
              </a:rPr>
              <a:t>ChromaDB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3058668" y="4491990"/>
            <a:ext cx="603504" cy="288036"/>
          </a:xfrm>
          <a:prstGeom prst="roundRect">
            <a:avLst>
              <a:gd fmla="val 19048" name="adj"/>
            </a:avLst>
          </a:prstGeom>
          <a:solidFill>
            <a:srgbClr val="FFFFFF">
              <a:alpha val="7843"/>
            </a:srgbClr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3058668" y="4491990"/>
            <a:ext cx="603504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8E6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CFE8E6"/>
                </a:solidFill>
                <a:latin typeface="Calibri"/>
                <a:ea typeface="Calibri"/>
                <a:cs typeface="Calibri"/>
                <a:sym typeface="Calibri"/>
              </a:rPr>
              <a:t>SQLite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3785616" y="4491990"/>
            <a:ext cx="1014984" cy="288036"/>
          </a:xfrm>
          <a:prstGeom prst="roundRect">
            <a:avLst>
              <a:gd fmla="val 19048" name="adj"/>
            </a:avLst>
          </a:prstGeom>
          <a:solidFill>
            <a:srgbClr val="FFFFFF">
              <a:alpha val="7843"/>
            </a:srgbClr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3785616" y="4491990"/>
            <a:ext cx="1014984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8E6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CFE8E6"/>
                </a:solidFill>
                <a:latin typeface="Calibri"/>
                <a:ea typeface="Calibri"/>
                <a:cs typeface="Calibri"/>
                <a:sym typeface="Calibri"/>
              </a:rPr>
              <a:t>React + Vite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8606790" y="4855464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679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5C7679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/>
          <p:nvPr/>
        </p:nvSpPr>
        <p:spPr>
          <a:xfrm>
            <a:off x="411480" y="342900"/>
            <a:ext cx="54864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THE BUSINESS PROBLEM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411480" y="58293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2B"/>
              </a:buClr>
              <a:buSzPts val="2300"/>
              <a:buFont typeface="Cambria"/>
              <a:buNone/>
            </a:pPr>
            <a:r>
              <a:rPr b="1" i="0" lang="en-GB" sz="2300" u="none" cap="none" strike="noStrike">
                <a:solidFill>
                  <a:srgbClr val="16292B"/>
                </a:solidFill>
                <a:latin typeface="Cambria"/>
                <a:ea typeface="Cambria"/>
                <a:cs typeface="Cambria"/>
                <a:sym typeface="Cambria"/>
              </a:rPr>
              <a:t>Ad hoc HR questions shouldn't take days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411480" y="106299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7679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5C7679"/>
                </a:solidFill>
                <a:latin typeface="Calibri"/>
                <a:ea typeface="Calibri"/>
                <a:cs typeface="Calibri"/>
                <a:sym typeface="Calibri"/>
              </a:rPr>
              <a:t>HR and IT leaders on Workday-style systems need fast answers — headcount on leave by region, average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7679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5C7679"/>
                </a:solidFill>
                <a:latin typeface="Calibri"/>
                <a:ea typeface="Calibri"/>
                <a:cs typeface="Calibri"/>
                <a:sym typeface="Calibri"/>
              </a:rPr>
              <a:t>time-to-fill — but today must file a request with a report-writing team or learn a report builder themselves.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411480" y="1748790"/>
            <a:ext cx="377190" cy="37719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lert.png" id="83" name="Google Shape;8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063" y="1841373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/>
          <p:nvPr/>
        </p:nvSpPr>
        <p:spPr>
          <a:xfrm>
            <a:off x="925830" y="1728216"/>
            <a:ext cx="36347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2B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6292B"/>
                </a:solidFill>
                <a:latin typeface="Calibri"/>
                <a:ea typeface="Calibri"/>
                <a:cs typeface="Calibri"/>
                <a:sym typeface="Calibri"/>
              </a:rPr>
              <a:t>Multi-day delays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925830" y="1968246"/>
            <a:ext cx="36347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7679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5C7679"/>
                </a:solidFill>
                <a:latin typeface="Calibri"/>
                <a:ea typeface="Calibri"/>
                <a:cs typeface="Calibri"/>
                <a:sym typeface="Calibri"/>
              </a:rPr>
              <a:t>Simple questions wait behind a report-writing team's queue.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411480" y="2537460"/>
            <a:ext cx="377190" cy="37719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ayers.png" id="87" name="Google Shape;8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4063" y="2630043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/>
          <p:nvPr/>
        </p:nvSpPr>
        <p:spPr>
          <a:xfrm>
            <a:off x="925830" y="2516886"/>
            <a:ext cx="36347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2B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6292B"/>
                </a:solidFill>
                <a:latin typeface="Calibri"/>
                <a:ea typeface="Calibri"/>
                <a:cs typeface="Calibri"/>
                <a:sym typeface="Calibri"/>
              </a:rPr>
              <a:t>A steep tool learning curve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925830" y="2756916"/>
            <a:ext cx="36347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7679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5C7679"/>
                </a:solidFill>
                <a:latin typeface="Calibri"/>
                <a:ea typeface="Calibri"/>
                <a:cs typeface="Calibri"/>
                <a:sym typeface="Calibri"/>
              </a:rPr>
              <a:t>Leaders must learn a dedicated report-builder tool to self-serve.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411480" y="3326130"/>
            <a:ext cx="377190" cy="37719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hart.png" id="91" name="Google Shape;9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4063" y="3418713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/>
          <p:nvPr/>
        </p:nvSpPr>
        <p:spPr>
          <a:xfrm>
            <a:off x="925830" y="3305556"/>
            <a:ext cx="36347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2B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6292B"/>
                </a:solidFill>
                <a:latin typeface="Calibri"/>
                <a:ea typeface="Calibri"/>
                <a:cs typeface="Calibri"/>
                <a:sym typeface="Calibri"/>
              </a:rPr>
              <a:t>Stale answers, or none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925830" y="3545586"/>
            <a:ext cx="36347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7679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5C7679"/>
                </a:solidFill>
                <a:latin typeface="Calibri"/>
                <a:ea typeface="Calibri"/>
                <a:cs typeface="Calibri"/>
                <a:sym typeface="Calibri"/>
              </a:rPr>
              <a:t>Leaders give up and fall back on outdated, previously generated reports.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4800600" y="1748790"/>
            <a:ext cx="3909060" cy="2640330"/>
          </a:xfrm>
          <a:prstGeom prst="roundRect">
            <a:avLst>
              <a:gd fmla="val 3117" name="adj"/>
            </a:avLst>
          </a:prstGeom>
          <a:solidFill>
            <a:srgbClr val="0B2E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5074920" y="1954530"/>
            <a:ext cx="34290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EXAMPLE QUESTION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5074920" y="2194560"/>
            <a:ext cx="3360420" cy="891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0" i="1" lang="en-GB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“How many employees are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0" i="1" lang="en-GB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currently on leave, broken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0" i="1" lang="en-GB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down by region?”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" name="Google Shape;97;p16"/>
          <p:cNvCxnSpPr/>
          <p:nvPr/>
        </p:nvCxnSpPr>
        <p:spPr>
          <a:xfrm>
            <a:off x="5074920" y="3188970"/>
            <a:ext cx="3360420" cy="0"/>
          </a:xfrm>
          <a:prstGeom prst="straightConnector1">
            <a:avLst/>
          </a:prstGeom>
          <a:noFill/>
          <a:ln cap="flat" cmpd="sng" w="1587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16"/>
          <p:cNvSpPr/>
          <p:nvPr/>
        </p:nvSpPr>
        <p:spPr>
          <a:xfrm>
            <a:off x="5074920" y="3291840"/>
            <a:ext cx="34290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THE GOAL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5074920" y="3531870"/>
            <a:ext cx="336042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E8E6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CFE8E6"/>
                </a:solidFill>
                <a:latin typeface="Calibri"/>
                <a:ea typeface="Calibri"/>
                <a:cs typeface="Calibri"/>
                <a:sym typeface="Calibri"/>
              </a:rPr>
              <a:t>Turn plain English into a validated, schema-grounded query — answered in minutes, with the data to back it up.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8606790" y="4855464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679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5C7679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/>
          <p:nvPr/>
        </p:nvSpPr>
        <p:spPr>
          <a:xfrm>
            <a:off x="411480" y="342900"/>
            <a:ext cx="54864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THE SOLUTION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411480" y="58293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2B"/>
              </a:buClr>
              <a:buSzPts val="2100"/>
              <a:buFont typeface="Cambria"/>
              <a:buNone/>
            </a:pPr>
            <a:r>
              <a:rPr b="1" i="0" lang="en-GB" sz="2100" u="none" cap="none" strike="noStrike">
                <a:solidFill>
                  <a:srgbClr val="16292B"/>
                </a:solidFill>
                <a:latin typeface="Cambria"/>
                <a:ea typeface="Cambria"/>
                <a:cs typeface="Cambria"/>
                <a:sym typeface="Cambria"/>
              </a:rPr>
              <a:t>One question in, one trustworthy answer 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411480" y="106299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7679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5C7679"/>
                </a:solidFill>
                <a:latin typeface="Calibri"/>
                <a:ea typeface="Calibri"/>
                <a:cs typeface="Calibri"/>
                <a:sym typeface="Calibri"/>
              </a:rPr>
              <a:t>A LangGraph agent retrieves real schema via RAG, drafts SQL constrained to that schema, validates and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7679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5C7679"/>
                </a:solidFill>
                <a:latin typeface="Calibri"/>
                <a:ea typeface="Calibri"/>
                <a:cs typeface="Calibri"/>
                <a:sym typeface="Calibri"/>
              </a:rPr>
              <a:t>executes it read-only, then checks its own answer against the results before responding.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411480" y="2160270"/>
            <a:ext cx="1200150" cy="1200150"/>
          </a:xfrm>
          <a:prstGeom prst="roundRect">
            <a:avLst>
              <a:gd fmla="val 5714" name="adj"/>
            </a:avLst>
          </a:prstGeom>
          <a:solidFill>
            <a:srgbClr val="F2F8F8"/>
          </a:solidFill>
          <a:ln cap="flat" cmpd="sng" w="12700">
            <a:solidFill>
              <a:srgbClr val="D7E7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792099" y="2297430"/>
            <a:ext cx="438912" cy="43891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message.png" id="111" name="Google Shape;11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4969" y="2400300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7"/>
          <p:cNvSpPr/>
          <p:nvPr/>
        </p:nvSpPr>
        <p:spPr>
          <a:xfrm>
            <a:off x="1323594" y="2201418"/>
            <a:ext cx="2468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466344" y="2811780"/>
            <a:ext cx="1090422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92B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16292B"/>
                </a:solidFill>
                <a:latin typeface="Calibri"/>
                <a:ea typeface="Calibri"/>
                <a:cs typeface="Calibri"/>
                <a:sym typeface="Calibri"/>
              </a:rPr>
              <a:t>Natural-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92B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16292B"/>
                </a:solidFill>
                <a:latin typeface="Calibri"/>
                <a:ea typeface="Calibri"/>
                <a:cs typeface="Calibri"/>
                <a:sym typeface="Calibri"/>
              </a:rPr>
              <a:t>Language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92B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16292B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1611630" y="2537460"/>
            <a:ext cx="2194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500"/>
              <a:buFont typeface="Calibri"/>
              <a:buNone/>
            </a:pPr>
            <a:r>
              <a:rPr b="1" i="0" lang="en-GB" sz="15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1831086" y="2160270"/>
            <a:ext cx="1200150" cy="1200150"/>
          </a:xfrm>
          <a:prstGeom prst="roundRect">
            <a:avLst>
              <a:gd fmla="val 5714" name="adj"/>
            </a:avLst>
          </a:prstGeom>
          <a:solidFill>
            <a:srgbClr val="F2F8F8"/>
          </a:solidFill>
          <a:ln cap="flat" cmpd="sng" w="12700">
            <a:solidFill>
              <a:srgbClr val="D7E7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2211705" y="2297430"/>
            <a:ext cx="438912" cy="43891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earch.png" id="117" name="Google Shape;11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14575" y="2400300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7"/>
          <p:cNvSpPr/>
          <p:nvPr/>
        </p:nvSpPr>
        <p:spPr>
          <a:xfrm>
            <a:off x="2743200" y="2201418"/>
            <a:ext cx="2468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1885950" y="2811780"/>
            <a:ext cx="1090422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92B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16292B"/>
                </a:solidFill>
                <a:latin typeface="Calibri"/>
                <a:ea typeface="Calibri"/>
                <a:cs typeface="Calibri"/>
                <a:sym typeface="Calibri"/>
              </a:rPr>
              <a:t>Schema RAG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92B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16292B"/>
                </a:solidFill>
                <a:latin typeface="Calibri"/>
                <a:ea typeface="Calibri"/>
                <a:cs typeface="Calibri"/>
                <a:sym typeface="Calibri"/>
              </a:rPr>
              <a:t>Retrieval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92B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16292B"/>
                </a:solidFill>
                <a:latin typeface="Calibri"/>
                <a:ea typeface="Calibri"/>
                <a:cs typeface="Calibri"/>
                <a:sym typeface="Calibri"/>
              </a:rPr>
              <a:t>(ChromaDB)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3031236" y="2537460"/>
            <a:ext cx="2194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500"/>
              <a:buFont typeface="Calibri"/>
              <a:buNone/>
            </a:pPr>
            <a:r>
              <a:rPr b="1" i="0" lang="en-GB" sz="15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3250692" y="2160270"/>
            <a:ext cx="1200150" cy="1200150"/>
          </a:xfrm>
          <a:prstGeom prst="roundRect">
            <a:avLst>
              <a:gd fmla="val 5714" name="adj"/>
            </a:avLst>
          </a:prstGeom>
          <a:solidFill>
            <a:srgbClr val="F2F8F8"/>
          </a:solidFill>
          <a:ln cap="flat" cmpd="sng" w="12700">
            <a:solidFill>
              <a:srgbClr val="D7E7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3631311" y="2297430"/>
            <a:ext cx="438912" cy="43891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ode.png" id="123" name="Google Shape;12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34181" y="2400300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7"/>
          <p:cNvSpPr/>
          <p:nvPr/>
        </p:nvSpPr>
        <p:spPr>
          <a:xfrm>
            <a:off x="4162806" y="2201418"/>
            <a:ext cx="2468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3305556" y="2811780"/>
            <a:ext cx="1090422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92B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16292B"/>
                </a:solidFill>
                <a:latin typeface="Calibri"/>
                <a:ea typeface="Calibri"/>
                <a:cs typeface="Calibri"/>
                <a:sym typeface="Calibri"/>
              </a:rPr>
              <a:t>SQL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92B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16292B"/>
                </a:solidFill>
                <a:latin typeface="Calibri"/>
                <a:ea typeface="Calibri"/>
                <a:cs typeface="Calibri"/>
                <a:sym typeface="Calibri"/>
              </a:rPr>
              <a:t>Generation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92B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16292B"/>
                </a:solidFill>
                <a:latin typeface="Calibri"/>
                <a:ea typeface="Calibri"/>
                <a:cs typeface="Calibri"/>
                <a:sym typeface="Calibri"/>
              </a:rPr>
              <a:t>(scoped)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4450842" y="2537460"/>
            <a:ext cx="2194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500"/>
              <a:buFont typeface="Calibri"/>
              <a:buNone/>
            </a:pPr>
            <a:r>
              <a:rPr b="1" i="0" lang="en-GB" sz="15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4670298" y="2160270"/>
            <a:ext cx="1200150" cy="1200150"/>
          </a:xfrm>
          <a:prstGeom prst="roundRect">
            <a:avLst>
              <a:gd fmla="val 5714" name="adj"/>
            </a:avLst>
          </a:prstGeom>
          <a:solidFill>
            <a:srgbClr val="F2F8F8"/>
          </a:solidFill>
          <a:ln cap="flat" cmpd="sng" w="12700">
            <a:solidFill>
              <a:srgbClr val="D7E7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5050917" y="2297430"/>
            <a:ext cx="438912" cy="43891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hield.png" id="129" name="Google Shape;12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53787" y="2400300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/>
          <p:nvPr/>
        </p:nvSpPr>
        <p:spPr>
          <a:xfrm>
            <a:off x="5582412" y="2201418"/>
            <a:ext cx="2468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4725162" y="2811780"/>
            <a:ext cx="1090422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92B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16292B"/>
                </a:solidFill>
                <a:latin typeface="Calibri"/>
                <a:ea typeface="Calibri"/>
                <a:cs typeface="Calibri"/>
                <a:sym typeface="Calibri"/>
              </a:rPr>
              <a:t>Safety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92B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16292B"/>
                </a:solidFill>
                <a:latin typeface="Calibri"/>
                <a:ea typeface="Calibri"/>
                <a:cs typeface="Calibri"/>
                <a:sym typeface="Calibri"/>
              </a:rPr>
              <a:t>Validation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92B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16292B"/>
                </a:solidFill>
                <a:latin typeface="Calibri"/>
                <a:ea typeface="Calibri"/>
                <a:cs typeface="Calibri"/>
                <a:sym typeface="Calibri"/>
              </a:rPr>
              <a:t>(read-only)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5870448" y="2537460"/>
            <a:ext cx="2194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500"/>
              <a:buFont typeface="Calibri"/>
              <a:buNone/>
            </a:pPr>
            <a:r>
              <a:rPr b="1" i="0" lang="en-GB" sz="15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6089904" y="2160270"/>
            <a:ext cx="1200150" cy="1200150"/>
          </a:xfrm>
          <a:prstGeom prst="roundRect">
            <a:avLst>
              <a:gd fmla="val 5714" name="adj"/>
            </a:avLst>
          </a:prstGeom>
          <a:solidFill>
            <a:srgbClr val="F2F8F8"/>
          </a:solidFill>
          <a:ln cap="flat" cmpd="sng" w="12700">
            <a:solidFill>
              <a:srgbClr val="D7E7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6470523" y="2297430"/>
            <a:ext cx="438912" cy="43891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atabase.png" id="135" name="Google Shape;13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73393" y="2400300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/>
          <p:nvPr/>
        </p:nvSpPr>
        <p:spPr>
          <a:xfrm>
            <a:off x="7002018" y="2201418"/>
            <a:ext cx="2468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6144768" y="2811780"/>
            <a:ext cx="1090422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92B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16292B"/>
                </a:solidFill>
                <a:latin typeface="Calibri"/>
                <a:ea typeface="Calibri"/>
                <a:cs typeface="Calibri"/>
                <a:sym typeface="Calibri"/>
              </a:rPr>
              <a:t>SQLite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92B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16292B"/>
                </a:solidFill>
                <a:latin typeface="Calibri"/>
                <a:ea typeface="Calibri"/>
                <a:cs typeface="Calibri"/>
                <a:sym typeface="Calibri"/>
              </a:rPr>
              <a:t>Execution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7290054" y="2537460"/>
            <a:ext cx="2194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500"/>
              <a:buFont typeface="Calibri"/>
              <a:buNone/>
            </a:pPr>
            <a:r>
              <a:rPr b="1" i="0" lang="en-GB" sz="15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7509510" y="2160270"/>
            <a:ext cx="1200150" cy="1200150"/>
          </a:xfrm>
          <a:prstGeom prst="roundRect">
            <a:avLst>
              <a:gd fmla="val 5714" name="adj"/>
            </a:avLst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7890129" y="2297430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heck.png" id="141" name="Google Shape;14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92999" y="2400300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/>
          <p:nvPr/>
        </p:nvSpPr>
        <p:spPr>
          <a:xfrm>
            <a:off x="8421624" y="2201418"/>
            <a:ext cx="2468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7564374" y="2811780"/>
            <a:ext cx="1090422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Faithfulness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Check +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411480" y="3669030"/>
            <a:ext cx="8298180" cy="788670"/>
          </a:xfrm>
          <a:prstGeom prst="roundRect">
            <a:avLst>
              <a:gd fmla="val 8696" name="adj"/>
            </a:avLst>
          </a:prstGeom>
          <a:solidFill>
            <a:srgbClr val="0B2E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repeat.png" id="145" name="Google Shape;14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17220" y="3854196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/>
          <p:nvPr/>
        </p:nvSpPr>
        <p:spPr>
          <a:xfrm>
            <a:off x="1131570" y="3703320"/>
            <a:ext cx="7406640" cy="720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Follow-up drill-downs, handled natively.  </a:t>
            </a:r>
            <a:r>
              <a:rPr b="0" i="0" lang="en-GB" sz="1000" u="none" cap="none" strike="noStrike">
                <a:solidFill>
                  <a:srgbClr val="CFE8E6"/>
                </a:solidFill>
                <a:latin typeface="Calibri"/>
                <a:ea typeface="Calibri"/>
                <a:cs typeface="Calibri"/>
                <a:sym typeface="Calibri"/>
              </a:rPr>
              <a:t>Conversation memory keeps the prior question and SQL in state, so “now break that down by department” reuses context instead of starting over.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8606790" y="4855464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679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5C7679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/>
          <p:nvPr/>
        </p:nvSpPr>
        <p:spPr>
          <a:xfrm>
            <a:off x="411480" y="342900"/>
            <a:ext cx="54864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DETAILED ARCHITECTURE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411480" y="582930"/>
            <a:ext cx="82296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2B"/>
              </a:buClr>
              <a:buSzPts val="2000"/>
              <a:buFont typeface="Cambria"/>
              <a:buNone/>
            </a:pPr>
            <a:r>
              <a:rPr b="1" i="0" lang="en-GB" sz="2000" u="none" cap="none" strike="noStrike">
                <a:solidFill>
                  <a:srgbClr val="16292B"/>
                </a:solidFill>
                <a:latin typeface="Cambria"/>
                <a:ea typeface="Cambria"/>
                <a:cs typeface="Cambria"/>
                <a:sym typeface="Cambria"/>
              </a:rPr>
              <a:t>The full pipeline, end to end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8606790" y="4855464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679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5C7679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2405" y="960125"/>
            <a:ext cx="7027870" cy="4004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"/>
          <p:cNvSpPr/>
          <p:nvPr/>
        </p:nvSpPr>
        <p:spPr>
          <a:xfrm>
            <a:off x="411480" y="342900"/>
            <a:ext cx="54864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KEY CHALLENGES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411480" y="58293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2B"/>
              </a:buClr>
              <a:buSzPts val="2000"/>
              <a:buFont typeface="Cambria"/>
              <a:buNone/>
            </a:pPr>
            <a:r>
              <a:rPr b="1" i="0" lang="en-GB" sz="2000" u="none" cap="none" strike="noStrike">
                <a:solidFill>
                  <a:srgbClr val="16292B"/>
                </a:solidFill>
                <a:latin typeface="Cambria"/>
                <a:ea typeface="Cambria"/>
                <a:cs typeface="Cambria"/>
                <a:sym typeface="Cambria"/>
              </a:rPr>
              <a:t>Designed against the three hardest failure modes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411480" y="1200150"/>
            <a:ext cx="8298180" cy="925830"/>
          </a:xfrm>
          <a:prstGeom prst="roundRect">
            <a:avLst>
              <a:gd fmla="val 7407" name="adj"/>
            </a:avLst>
          </a:prstGeom>
          <a:solidFill>
            <a:srgbClr val="F2F8F8"/>
          </a:solidFill>
          <a:ln cap="flat" cmpd="sng" w="12700">
            <a:solidFill>
              <a:srgbClr val="DCED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9"/>
          <p:cNvSpPr/>
          <p:nvPr/>
        </p:nvSpPr>
        <p:spPr>
          <a:xfrm>
            <a:off x="582930" y="1364742"/>
            <a:ext cx="425196" cy="42519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hield.png" id="166" name="Google Shape;16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4676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/>
          <p:nvPr/>
        </p:nvSpPr>
        <p:spPr>
          <a:xfrm>
            <a:off x="1200150" y="1296162"/>
            <a:ext cx="1783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2B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6292B"/>
                </a:solidFill>
                <a:latin typeface="Calibri"/>
                <a:ea typeface="Calibri"/>
                <a:cs typeface="Calibri"/>
                <a:sym typeface="Calibri"/>
              </a:rPr>
              <a:t>Hallucinated schema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19"/>
          <p:cNvCxnSpPr/>
          <p:nvPr/>
        </p:nvCxnSpPr>
        <p:spPr>
          <a:xfrm>
            <a:off x="3120390" y="1303020"/>
            <a:ext cx="0" cy="720090"/>
          </a:xfrm>
          <a:prstGeom prst="straightConnector1">
            <a:avLst/>
          </a:prstGeom>
          <a:noFill/>
          <a:ln cap="flat" cmpd="sng" w="12700">
            <a:solidFill>
              <a:srgbClr val="BFDA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19"/>
          <p:cNvSpPr/>
          <p:nvPr/>
        </p:nvSpPr>
        <p:spPr>
          <a:xfrm>
            <a:off x="3291840" y="1282446"/>
            <a:ext cx="233172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679"/>
              </a:buClr>
              <a:buSzPts val="700"/>
              <a:buFont typeface="Calibri"/>
              <a:buNone/>
            </a:pPr>
            <a:r>
              <a:rPr b="1" i="0" lang="en-GB" sz="700" u="none" cap="none" strike="noStrike">
                <a:solidFill>
                  <a:srgbClr val="5C7679"/>
                </a:solidFill>
                <a:latin typeface="Calibri"/>
                <a:ea typeface="Calibri"/>
                <a:cs typeface="Calibri"/>
                <a:sym typeface="Calibri"/>
              </a:rPr>
              <a:t>CHALLENGE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3291840" y="1460754"/>
            <a:ext cx="24003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292B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16292B"/>
                </a:solidFill>
                <a:latin typeface="Calibri"/>
                <a:ea typeface="Calibri"/>
                <a:cs typeface="Calibri"/>
                <a:sym typeface="Calibri"/>
              </a:rPr>
              <a:t>Generating SQL against tables or columns that don't actually exist.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19"/>
          <p:cNvCxnSpPr/>
          <p:nvPr/>
        </p:nvCxnSpPr>
        <p:spPr>
          <a:xfrm>
            <a:off x="5863590" y="1303020"/>
            <a:ext cx="0" cy="720090"/>
          </a:xfrm>
          <a:prstGeom prst="straightConnector1">
            <a:avLst/>
          </a:prstGeom>
          <a:noFill/>
          <a:ln cap="flat" cmpd="sng" w="12700">
            <a:solidFill>
              <a:srgbClr val="BFDA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19"/>
          <p:cNvSpPr/>
          <p:nvPr/>
        </p:nvSpPr>
        <p:spPr>
          <a:xfrm>
            <a:off x="6035040" y="1282446"/>
            <a:ext cx="25374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700"/>
              <a:buFont typeface="Calibri"/>
              <a:buNone/>
            </a:pPr>
            <a:r>
              <a:rPr b="1" i="0" lang="en-GB" sz="7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HOW IT'S SOLVED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6035040" y="1460754"/>
            <a:ext cx="260604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292B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16292B"/>
                </a:solidFill>
                <a:latin typeface="Calibri"/>
                <a:ea typeface="Calibri"/>
                <a:cs typeface="Calibri"/>
                <a:sym typeface="Calibri"/>
              </a:rPr>
              <a:t>SQL generation is constrained to schema retrieved live from ChromaDB — the model never invents a column.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411480" y="2263140"/>
            <a:ext cx="8298180" cy="925830"/>
          </a:xfrm>
          <a:prstGeom prst="roundRect">
            <a:avLst>
              <a:gd fmla="val 7407" name="adj"/>
            </a:avLst>
          </a:prstGeom>
          <a:solidFill>
            <a:srgbClr val="F2F8F8"/>
          </a:solidFill>
          <a:ln cap="flat" cmpd="sng" w="12700">
            <a:solidFill>
              <a:srgbClr val="DCED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582930" y="2427732"/>
            <a:ext cx="425196" cy="42519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lert.png" id="176" name="Google Shape;17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253060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/>
          <p:nvPr/>
        </p:nvSpPr>
        <p:spPr>
          <a:xfrm>
            <a:off x="1200150" y="2359152"/>
            <a:ext cx="1783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2B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6292B"/>
                </a:solidFill>
                <a:latin typeface="Calibri"/>
                <a:ea typeface="Calibri"/>
                <a:cs typeface="Calibri"/>
                <a:sym typeface="Calibri"/>
              </a:rPr>
              <a:t>Subtly wrong answers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" name="Google Shape;178;p19"/>
          <p:cNvCxnSpPr/>
          <p:nvPr/>
        </p:nvCxnSpPr>
        <p:spPr>
          <a:xfrm>
            <a:off x="3120390" y="2366010"/>
            <a:ext cx="0" cy="720090"/>
          </a:xfrm>
          <a:prstGeom prst="straightConnector1">
            <a:avLst/>
          </a:prstGeom>
          <a:noFill/>
          <a:ln cap="flat" cmpd="sng" w="12700">
            <a:solidFill>
              <a:srgbClr val="BFDA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19"/>
          <p:cNvSpPr/>
          <p:nvPr/>
        </p:nvSpPr>
        <p:spPr>
          <a:xfrm>
            <a:off x="3291840" y="2345436"/>
            <a:ext cx="233172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679"/>
              </a:buClr>
              <a:buSzPts val="700"/>
              <a:buFont typeface="Calibri"/>
              <a:buNone/>
            </a:pPr>
            <a:r>
              <a:rPr b="1" i="0" lang="en-GB" sz="700" u="none" cap="none" strike="noStrike">
                <a:solidFill>
                  <a:srgbClr val="5C7679"/>
                </a:solidFill>
                <a:latin typeface="Calibri"/>
                <a:ea typeface="Calibri"/>
                <a:cs typeface="Calibri"/>
                <a:sym typeface="Calibri"/>
              </a:rPr>
              <a:t>CHALLENGE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3291840" y="2523744"/>
            <a:ext cx="24003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292B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16292B"/>
                </a:solidFill>
                <a:latin typeface="Calibri"/>
                <a:ea typeface="Calibri"/>
                <a:cs typeface="Calibri"/>
                <a:sym typeface="Calibri"/>
              </a:rPr>
              <a:t>A query runs successfully but quietly answers a different question than what was asked.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1" name="Google Shape;181;p19"/>
          <p:cNvCxnSpPr/>
          <p:nvPr/>
        </p:nvCxnSpPr>
        <p:spPr>
          <a:xfrm>
            <a:off x="5863590" y="2366010"/>
            <a:ext cx="0" cy="720090"/>
          </a:xfrm>
          <a:prstGeom prst="straightConnector1">
            <a:avLst/>
          </a:prstGeom>
          <a:noFill/>
          <a:ln cap="flat" cmpd="sng" w="12700">
            <a:solidFill>
              <a:srgbClr val="BFDA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" name="Google Shape;182;p19"/>
          <p:cNvSpPr/>
          <p:nvPr/>
        </p:nvSpPr>
        <p:spPr>
          <a:xfrm>
            <a:off x="6035040" y="2345436"/>
            <a:ext cx="25374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700"/>
              <a:buFont typeface="Calibri"/>
              <a:buNone/>
            </a:pPr>
            <a:r>
              <a:rPr b="1" i="0" lang="en-GB" sz="7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HOW IT'S SOLVED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6035040" y="2523744"/>
            <a:ext cx="260604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292B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16292B"/>
                </a:solidFill>
                <a:latin typeface="Calibri"/>
                <a:ea typeface="Calibri"/>
                <a:cs typeface="Calibri"/>
                <a:sym typeface="Calibri"/>
              </a:rPr>
              <a:t>A dedicated faithfulness self-check compares the drafted answer against the raw result set before it's returned.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411480" y="3326130"/>
            <a:ext cx="8298180" cy="925830"/>
          </a:xfrm>
          <a:prstGeom prst="roundRect">
            <a:avLst>
              <a:gd fmla="val 7407" name="adj"/>
            </a:avLst>
          </a:prstGeom>
          <a:solidFill>
            <a:srgbClr val="F2F8F8"/>
          </a:solidFill>
          <a:ln cap="flat" cmpd="sng" w="12700">
            <a:solidFill>
              <a:srgbClr val="DCED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582930" y="3490722"/>
            <a:ext cx="425196" cy="42519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repeat.png" id="186" name="Google Shape;18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" y="359359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/>
          <p:nvPr/>
        </p:nvSpPr>
        <p:spPr>
          <a:xfrm>
            <a:off x="1200150" y="3422142"/>
            <a:ext cx="1783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2B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6292B"/>
                </a:solidFill>
                <a:latin typeface="Calibri"/>
                <a:ea typeface="Calibri"/>
                <a:cs typeface="Calibri"/>
                <a:sym typeface="Calibri"/>
              </a:rPr>
              <a:t>Follow-up drill-downs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" name="Google Shape;188;p19"/>
          <p:cNvCxnSpPr/>
          <p:nvPr/>
        </p:nvCxnSpPr>
        <p:spPr>
          <a:xfrm>
            <a:off x="3120390" y="3429000"/>
            <a:ext cx="0" cy="720090"/>
          </a:xfrm>
          <a:prstGeom prst="straightConnector1">
            <a:avLst/>
          </a:prstGeom>
          <a:noFill/>
          <a:ln cap="flat" cmpd="sng" w="12700">
            <a:solidFill>
              <a:srgbClr val="BFDA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" name="Google Shape;189;p19"/>
          <p:cNvSpPr/>
          <p:nvPr/>
        </p:nvSpPr>
        <p:spPr>
          <a:xfrm>
            <a:off x="3291840" y="3408426"/>
            <a:ext cx="233172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679"/>
              </a:buClr>
              <a:buSzPts val="700"/>
              <a:buFont typeface="Calibri"/>
              <a:buNone/>
            </a:pPr>
            <a:r>
              <a:rPr b="1" i="0" lang="en-GB" sz="700" u="none" cap="none" strike="noStrike">
                <a:solidFill>
                  <a:srgbClr val="5C7679"/>
                </a:solidFill>
                <a:latin typeface="Calibri"/>
                <a:ea typeface="Calibri"/>
                <a:cs typeface="Calibri"/>
                <a:sym typeface="Calibri"/>
              </a:rPr>
              <a:t>CHALLENGE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3291840" y="3586734"/>
            <a:ext cx="24003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292B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16292B"/>
                </a:solidFill>
                <a:latin typeface="Calibri"/>
                <a:ea typeface="Calibri"/>
                <a:cs typeface="Calibri"/>
                <a:sym typeface="Calibri"/>
              </a:rPr>
              <a:t>“Now break that down by department” shouldn't mean rebuilding the whole query.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" name="Google Shape;191;p19"/>
          <p:cNvCxnSpPr/>
          <p:nvPr/>
        </p:nvCxnSpPr>
        <p:spPr>
          <a:xfrm>
            <a:off x="5863590" y="3429000"/>
            <a:ext cx="0" cy="720090"/>
          </a:xfrm>
          <a:prstGeom prst="straightConnector1">
            <a:avLst/>
          </a:prstGeom>
          <a:noFill/>
          <a:ln cap="flat" cmpd="sng" w="12700">
            <a:solidFill>
              <a:srgbClr val="BFDA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19"/>
          <p:cNvSpPr/>
          <p:nvPr/>
        </p:nvSpPr>
        <p:spPr>
          <a:xfrm>
            <a:off x="6035040" y="3408426"/>
            <a:ext cx="25374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700"/>
              <a:buFont typeface="Calibri"/>
              <a:buNone/>
            </a:pPr>
            <a:r>
              <a:rPr b="1" i="0" lang="en-GB" sz="7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HOW IT'S SOLVED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6035040" y="3586734"/>
            <a:ext cx="260604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292B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16292B"/>
                </a:solidFill>
                <a:latin typeface="Calibri"/>
                <a:ea typeface="Calibri"/>
                <a:cs typeface="Calibri"/>
                <a:sym typeface="Calibri"/>
              </a:rPr>
              <a:t>LangGraph state retains chat_history and the last SQL query, so drill-downs reuse prior context.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8606790" y="4855464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679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5C7679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"/>
          <p:cNvSpPr/>
          <p:nvPr/>
        </p:nvSpPr>
        <p:spPr>
          <a:xfrm>
            <a:off x="411480" y="342900"/>
            <a:ext cx="54864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TECHNOLOGY STACK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411480" y="58293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2B"/>
              </a:buClr>
              <a:buSzPts val="2000"/>
              <a:buFont typeface="Cambria"/>
              <a:buNone/>
            </a:pPr>
            <a:r>
              <a:rPr b="1" i="0" lang="en-GB" sz="2000" u="none" cap="none" strike="noStrike">
                <a:solidFill>
                  <a:srgbClr val="16292B"/>
                </a:solidFill>
                <a:latin typeface="Cambria"/>
                <a:ea typeface="Cambria"/>
                <a:cs typeface="Cambria"/>
                <a:sym typeface="Cambria"/>
              </a:rPr>
              <a:t>Built on a lightweight, production-shaped stack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411480" y="1200150"/>
            <a:ext cx="2640330" cy="1303020"/>
          </a:xfrm>
          <a:prstGeom prst="roundRect">
            <a:avLst>
              <a:gd fmla="val 5263" name="adj"/>
            </a:avLst>
          </a:prstGeom>
          <a:solidFill>
            <a:srgbClr val="F2F8F8"/>
          </a:solidFill>
          <a:ln cap="flat" cmpd="sng" w="12700">
            <a:solidFill>
              <a:srgbClr val="DCED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603504" y="1392174"/>
            <a:ext cx="425196" cy="42519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pu.png" id="204" name="Google Shape;20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374" y="149504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/>
          <p:nvPr/>
        </p:nvSpPr>
        <p:spPr>
          <a:xfrm>
            <a:off x="1131570" y="1371600"/>
            <a:ext cx="181737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2B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16292B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603504" y="1885950"/>
            <a:ext cx="2256282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7679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5C7679"/>
                </a:solidFill>
                <a:latin typeface="Calibri"/>
                <a:ea typeface="Calibri"/>
                <a:cs typeface="Calibri"/>
                <a:sym typeface="Calibri"/>
              </a:rPr>
              <a:t>Core language for the agent and services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3243834" y="1200150"/>
            <a:ext cx="2640330" cy="1303020"/>
          </a:xfrm>
          <a:prstGeom prst="roundRect">
            <a:avLst>
              <a:gd fmla="val 5263" name="adj"/>
            </a:avLst>
          </a:prstGeom>
          <a:solidFill>
            <a:srgbClr val="F2F8F8"/>
          </a:solidFill>
          <a:ln cap="flat" cmpd="sng" w="12700">
            <a:solidFill>
              <a:srgbClr val="DCED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3435858" y="1392174"/>
            <a:ext cx="425196" cy="42519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lobe.png" id="209" name="Google Shape;20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38728" y="149504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/>
          <p:nvPr/>
        </p:nvSpPr>
        <p:spPr>
          <a:xfrm>
            <a:off x="3963924" y="1371600"/>
            <a:ext cx="181737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2B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16292B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3435858" y="1885950"/>
            <a:ext cx="2256282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7679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5C7679"/>
                </a:solidFill>
                <a:latin typeface="Calibri"/>
                <a:ea typeface="Calibri"/>
                <a:cs typeface="Calibri"/>
                <a:sym typeface="Calibri"/>
              </a:rPr>
              <a:t>REST API — /query, /schema, /history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6076188" y="1200150"/>
            <a:ext cx="2640330" cy="1303020"/>
          </a:xfrm>
          <a:prstGeom prst="roundRect">
            <a:avLst>
              <a:gd fmla="val 5263" name="adj"/>
            </a:avLst>
          </a:prstGeom>
          <a:solidFill>
            <a:srgbClr val="F2F8F8"/>
          </a:solidFill>
          <a:ln cap="flat" cmpd="sng" w="12700">
            <a:solidFill>
              <a:srgbClr val="DCED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6268212" y="1392174"/>
            <a:ext cx="425196" cy="42519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ranch.png" id="214" name="Google Shape;21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1082" y="149504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/>
          <p:nvPr/>
        </p:nvSpPr>
        <p:spPr>
          <a:xfrm>
            <a:off x="6796278" y="1371600"/>
            <a:ext cx="181737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2B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16292B"/>
                </a:solidFill>
                <a:latin typeface="Calibri"/>
                <a:ea typeface="Calibri"/>
                <a:cs typeface="Calibri"/>
                <a:sym typeface="Calibri"/>
              </a:rPr>
              <a:t>LangGraph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6268212" y="1885950"/>
            <a:ext cx="2256282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7679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5C7679"/>
                </a:solidFill>
                <a:latin typeface="Calibri"/>
                <a:ea typeface="Calibri"/>
                <a:cs typeface="Calibri"/>
                <a:sym typeface="Calibri"/>
              </a:rPr>
              <a:t>Sequential plan→generate→validate→answer graph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411480" y="2695194"/>
            <a:ext cx="2640330" cy="1303020"/>
          </a:xfrm>
          <a:prstGeom prst="roundRect">
            <a:avLst>
              <a:gd fmla="val 5263" name="adj"/>
            </a:avLst>
          </a:prstGeom>
          <a:solidFill>
            <a:srgbClr val="F2F8F8"/>
          </a:solidFill>
          <a:ln cap="flat" cmpd="sng" w="12700">
            <a:solidFill>
              <a:srgbClr val="DCED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603504" y="2887218"/>
            <a:ext cx="425196" cy="425196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earch.png" id="219" name="Google Shape;21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6374" y="299008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0"/>
          <p:cNvSpPr/>
          <p:nvPr/>
        </p:nvSpPr>
        <p:spPr>
          <a:xfrm>
            <a:off x="1131570" y="2866644"/>
            <a:ext cx="181737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2B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16292B"/>
                </a:solidFill>
                <a:latin typeface="Calibri"/>
                <a:ea typeface="Calibri"/>
                <a:cs typeface="Calibri"/>
                <a:sym typeface="Calibri"/>
              </a:rPr>
              <a:t>ChromaDB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603504" y="3380994"/>
            <a:ext cx="2256282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7679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5C7679"/>
                </a:solidFill>
                <a:latin typeface="Calibri"/>
                <a:ea typeface="Calibri"/>
                <a:cs typeface="Calibri"/>
                <a:sym typeface="Calibri"/>
              </a:rPr>
              <a:t>Vector store for schema / data-dictionary RAG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3243834" y="2695194"/>
            <a:ext cx="2640330" cy="1303020"/>
          </a:xfrm>
          <a:prstGeom prst="roundRect">
            <a:avLst>
              <a:gd fmla="val 5263" name="adj"/>
            </a:avLst>
          </a:prstGeom>
          <a:solidFill>
            <a:srgbClr val="F2F8F8"/>
          </a:solidFill>
          <a:ln cap="flat" cmpd="sng" w="12700">
            <a:solidFill>
              <a:srgbClr val="DCED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3435858" y="2887218"/>
            <a:ext cx="425196" cy="425196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atabase.png" id="224" name="Google Shape;22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38728" y="299008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/>
          <p:nvPr/>
        </p:nvSpPr>
        <p:spPr>
          <a:xfrm>
            <a:off x="3963924" y="2866644"/>
            <a:ext cx="181737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2B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16292B"/>
                </a:solidFill>
                <a:latin typeface="Calibri"/>
                <a:ea typeface="Calibri"/>
                <a:cs typeface="Calibri"/>
                <a:sym typeface="Calibri"/>
              </a:rPr>
              <a:t>SQLite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3435858" y="3380994"/>
            <a:ext cx="2256282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7679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5C7679"/>
                </a:solidFill>
                <a:latin typeface="Calibri"/>
                <a:ea typeface="Calibri"/>
                <a:cs typeface="Calibri"/>
                <a:sym typeface="Calibri"/>
              </a:rPr>
              <a:t>workday_hr.db — read-only execution target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6076188" y="2695194"/>
            <a:ext cx="2640330" cy="1303020"/>
          </a:xfrm>
          <a:prstGeom prst="roundRect">
            <a:avLst>
              <a:gd fmla="val 5263" name="adj"/>
            </a:avLst>
          </a:prstGeom>
          <a:solidFill>
            <a:srgbClr val="F2F8F8"/>
          </a:solidFill>
          <a:ln cap="flat" cmpd="sng" w="12700">
            <a:solidFill>
              <a:srgbClr val="DCED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6268212" y="2887218"/>
            <a:ext cx="425196" cy="425196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ode.png" id="229" name="Google Shape;229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71082" y="299008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/>
          <p:nvPr/>
        </p:nvSpPr>
        <p:spPr>
          <a:xfrm>
            <a:off x="6796278" y="2866644"/>
            <a:ext cx="181737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2B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16292B"/>
                </a:solidFill>
                <a:latin typeface="Calibri"/>
                <a:ea typeface="Calibri"/>
                <a:cs typeface="Calibri"/>
                <a:sym typeface="Calibri"/>
              </a:rPr>
              <a:t>React + Vite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6268212" y="3380994"/>
            <a:ext cx="2256282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7679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5C7679"/>
                </a:solidFill>
                <a:latin typeface="Calibri"/>
                <a:ea typeface="Calibri"/>
                <a:cs typeface="Calibri"/>
                <a:sym typeface="Calibri"/>
              </a:rPr>
              <a:t>Dashboard: answers, table, SQL inspector, history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8606790" y="4855464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679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5C7679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1"/>
          <p:cNvSpPr/>
          <p:nvPr/>
        </p:nvSpPr>
        <p:spPr>
          <a:xfrm>
            <a:off x="411480" y="342900"/>
            <a:ext cx="54864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EVALUATION RUBRIC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411480" y="58293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2B"/>
              </a:buClr>
              <a:buSzPts val="1900"/>
              <a:buFont typeface="Cambria"/>
              <a:buNone/>
            </a:pPr>
            <a:r>
              <a:rPr b="1" i="0" lang="en-GB" sz="1900" u="none" cap="none" strike="noStrike">
                <a:solidFill>
                  <a:srgbClr val="16292B"/>
                </a:solidFill>
                <a:latin typeface="Cambria"/>
                <a:ea typeface="Cambria"/>
                <a:cs typeface="Cambria"/>
                <a:sym typeface="Cambria"/>
              </a:rPr>
              <a:t>Success is measured on accuracy, faithfulness, and safety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4320540" y="1303020"/>
            <a:ext cx="720090" cy="617220"/>
          </a:xfrm>
          <a:prstGeom prst="roundRect">
            <a:avLst>
              <a:gd fmla="val 8889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1"/>
          <p:cNvSpPr/>
          <p:nvPr/>
        </p:nvSpPr>
        <p:spPr>
          <a:xfrm>
            <a:off x="4320540" y="1303020"/>
            <a:ext cx="72009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5177790" y="1289304"/>
            <a:ext cx="353187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2B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6292B"/>
                </a:solidFill>
                <a:latin typeface="Calibri"/>
                <a:ea typeface="Calibri"/>
                <a:cs typeface="Calibri"/>
                <a:sym typeface="Calibri"/>
              </a:rPr>
              <a:t>SQL Generation Accuracy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5177790" y="1549908"/>
            <a:ext cx="353187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7679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5C7679"/>
                </a:solidFill>
                <a:latin typeface="Calibri"/>
                <a:ea typeface="Calibri"/>
                <a:cs typeface="Calibri"/>
                <a:sym typeface="Calibri"/>
              </a:rPr>
              <a:t>Generated queries return correct results, verified against a ground-truth query set.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4320540" y="2366010"/>
            <a:ext cx="720090" cy="617220"/>
          </a:xfrm>
          <a:prstGeom prst="roundRect">
            <a:avLst>
              <a:gd fmla="val 8889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1"/>
          <p:cNvSpPr/>
          <p:nvPr/>
        </p:nvSpPr>
        <p:spPr>
          <a:xfrm>
            <a:off x="4320540" y="2366010"/>
            <a:ext cx="72009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5177790" y="2352294"/>
            <a:ext cx="353187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2B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6292B"/>
                </a:solidFill>
                <a:latin typeface="Calibri"/>
                <a:ea typeface="Calibri"/>
                <a:cs typeface="Calibri"/>
                <a:sym typeface="Calibri"/>
              </a:rPr>
              <a:t>Answer Faithfulness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5177790" y="2612898"/>
            <a:ext cx="353187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7679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5C7679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b="0" i="0" lang="en-GB" sz="900" u="none" cap="none" strike="noStrike">
                <a:solidFill>
                  <a:srgbClr val="5C7679"/>
                </a:solidFill>
                <a:latin typeface="Calibri"/>
                <a:ea typeface="Calibri"/>
                <a:cs typeface="Calibri"/>
                <a:sym typeface="Calibri"/>
              </a:rPr>
              <a:t> final answer reflects actual query results — not invented figures.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4320540" y="3429000"/>
            <a:ext cx="720090" cy="617220"/>
          </a:xfrm>
          <a:prstGeom prst="roundRect">
            <a:avLst>
              <a:gd fmla="val 8889" name="adj"/>
            </a:avLst>
          </a:prstGeom>
          <a:solidFill>
            <a:srgbClr val="02C39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1"/>
          <p:cNvSpPr/>
          <p:nvPr/>
        </p:nvSpPr>
        <p:spPr>
          <a:xfrm>
            <a:off x="4320540" y="3429000"/>
            <a:ext cx="72009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5177790" y="3415284"/>
            <a:ext cx="353187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2B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6292B"/>
                </a:solidFill>
                <a:latin typeface="Calibri"/>
                <a:ea typeface="Calibri"/>
                <a:cs typeface="Calibri"/>
                <a:sym typeface="Calibri"/>
              </a:rPr>
              <a:t>Schema-Grounding &amp; Safety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5177790" y="3675888"/>
            <a:ext cx="353187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7679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5C7679"/>
                </a:solidFill>
                <a:latin typeface="Calibri"/>
                <a:ea typeface="Calibri"/>
                <a:cs typeface="Calibri"/>
                <a:sym typeface="Calibri"/>
              </a:rPr>
              <a:t>The agent references only real, RAG-retrieved schema and rejects out-of-scope asks, tested with a red-team query set.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8606790" y="4855464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679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5C7679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625" y="1672085"/>
            <a:ext cx="4015738" cy="2258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E33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2"/>
          <p:cNvSpPr/>
          <p:nvPr/>
        </p:nvSpPr>
        <p:spPr>
          <a:xfrm>
            <a:off x="411480" y="342900"/>
            <a:ext cx="54864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IMPLEMENTATION STATUS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411480" y="58293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End-to-end build, across ten phases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411480" y="1062990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FE8E6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CFE8E6"/>
                </a:solidFill>
                <a:latin typeface="Calibri"/>
                <a:ea typeface="Calibri"/>
                <a:cs typeface="Calibri"/>
                <a:sym typeface="Calibri"/>
              </a:rPr>
              <a:t>Backend (FastAPI, LangGraph workflow, RAG, SQL safety, SQLite) and frontend (React + Vite dashboard) code both exist end-to-end, tracking this phase plan: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411480" y="1611630"/>
            <a:ext cx="4080510" cy="329184"/>
          </a:xfrm>
          <a:prstGeom prst="roundRect">
            <a:avLst>
              <a:gd fmla="val 14583" name="adj"/>
            </a:avLst>
          </a:prstGeom>
          <a:solidFill>
            <a:srgbClr val="FFFFFF">
              <a:alpha val="5882"/>
            </a:srgbClr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2"/>
          <p:cNvSpPr/>
          <p:nvPr/>
        </p:nvSpPr>
        <p:spPr>
          <a:xfrm>
            <a:off x="507492" y="1666494"/>
            <a:ext cx="219456" cy="219456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heck.png" id="264" name="Google Shape;26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2356" y="1721358"/>
            <a:ext cx="109728" cy="109728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2"/>
          <p:cNvSpPr/>
          <p:nvPr/>
        </p:nvSpPr>
        <p:spPr>
          <a:xfrm>
            <a:off x="809244" y="1625346"/>
            <a:ext cx="8915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700"/>
              <a:buFont typeface="Calibri"/>
              <a:buNone/>
            </a:pPr>
            <a:r>
              <a:rPr b="1" i="0" lang="en-GB" sz="7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2"/>
          <p:cNvSpPr/>
          <p:nvPr/>
        </p:nvSpPr>
        <p:spPr>
          <a:xfrm>
            <a:off x="1577340" y="1625346"/>
            <a:ext cx="28117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planning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4697730" y="1611630"/>
            <a:ext cx="4080510" cy="329184"/>
          </a:xfrm>
          <a:prstGeom prst="roundRect">
            <a:avLst>
              <a:gd fmla="val 14583" name="adj"/>
            </a:avLst>
          </a:prstGeom>
          <a:solidFill>
            <a:srgbClr val="FFFFFF">
              <a:alpha val="5882"/>
            </a:srgbClr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2"/>
          <p:cNvSpPr/>
          <p:nvPr/>
        </p:nvSpPr>
        <p:spPr>
          <a:xfrm>
            <a:off x="4793742" y="1666494"/>
            <a:ext cx="219456" cy="219456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heck.png" id="269" name="Google Shape;26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8606" y="1721358"/>
            <a:ext cx="109728" cy="109728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2"/>
          <p:cNvSpPr/>
          <p:nvPr/>
        </p:nvSpPr>
        <p:spPr>
          <a:xfrm>
            <a:off x="5095494" y="1625346"/>
            <a:ext cx="8915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700"/>
              <a:buFont typeface="Calibri"/>
              <a:buNone/>
            </a:pPr>
            <a:r>
              <a:rPr b="1" i="0" lang="en-GB" sz="7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5863590" y="1625346"/>
            <a:ext cx="28117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SQLite DB &amp; synthetic 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411480" y="2036826"/>
            <a:ext cx="4080510" cy="329184"/>
          </a:xfrm>
          <a:prstGeom prst="roundRect">
            <a:avLst>
              <a:gd fmla="val 14583" name="adj"/>
            </a:avLst>
          </a:prstGeom>
          <a:solidFill>
            <a:srgbClr val="FFFFFF">
              <a:alpha val="5882"/>
            </a:srgbClr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2"/>
          <p:cNvSpPr/>
          <p:nvPr/>
        </p:nvSpPr>
        <p:spPr>
          <a:xfrm>
            <a:off x="507492" y="2091690"/>
            <a:ext cx="219456" cy="219456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heck.png" id="274" name="Google Shape;27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2356" y="2146554"/>
            <a:ext cx="109728" cy="109728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2"/>
          <p:cNvSpPr/>
          <p:nvPr/>
        </p:nvSpPr>
        <p:spPr>
          <a:xfrm>
            <a:off x="809244" y="2050542"/>
            <a:ext cx="8915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700"/>
              <a:buFont typeface="Calibri"/>
              <a:buNone/>
            </a:pPr>
            <a:r>
              <a:rPr b="1" i="0" lang="en-GB" sz="7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2"/>
          <p:cNvSpPr/>
          <p:nvPr/>
        </p:nvSpPr>
        <p:spPr>
          <a:xfrm>
            <a:off x="1577340" y="2050542"/>
            <a:ext cx="28117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FastAPI backend foundation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4697730" y="2036826"/>
            <a:ext cx="4080510" cy="329184"/>
          </a:xfrm>
          <a:prstGeom prst="roundRect">
            <a:avLst>
              <a:gd fmla="val 14583" name="adj"/>
            </a:avLst>
          </a:prstGeom>
          <a:solidFill>
            <a:srgbClr val="FFFFFF">
              <a:alpha val="5882"/>
            </a:srgbClr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2"/>
          <p:cNvSpPr/>
          <p:nvPr/>
        </p:nvSpPr>
        <p:spPr>
          <a:xfrm>
            <a:off x="4793742" y="2091690"/>
            <a:ext cx="219456" cy="219456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heck.png" id="279" name="Google Shape;27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8606" y="2146554"/>
            <a:ext cx="109728" cy="109728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2"/>
          <p:cNvSpPr/>
          <p:nvPr/>
        </p:nvSpPr>
        <p:spPr>
          <a:xfrm>
            <a:off x="5095494" y="2050542"/>
            <a:ext cx="8915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700"/>
              <a:buFont typeface="Calibri"/>
              <a:buNone/>
            </a:pPr>
            <a:r>
              <a:rPr b="1" i="0" lang="en-GB" sz="7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Phase 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5863590" y="2050542"/>
            <a:ext cx="28117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dictionary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411480" y="2462022"/>
            <a:ext cx="4080510" cy="329184"/>
          </a:xfrm>
          <a:prstGeom prst="roundRect">
            <a:avLst>
              <a:gd fmla="val 14583" name="adj"/>
            </a:avLst>
          </a:prstGeom>
          <a:solidFill>
            <a:srgbClr val="FFFFFF">
              <a:alpha val="5882"/>
            </a:srgbClr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2"/>
          <p:cNvSpPr/>
          <p:nvPr/>
        </p:nvSpPr>
        <p:spPr>
          <a:xfrm>
            <a:off x="507492" y="2516886"/>
            <a:ext cx="219456" cy="219456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heck.png" id="284" name="Google Shape;28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2356" y="2571750"/>
            <a:ext cx="109728" cy="109728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2"/>
          <p:cNvSpPr/>
          <p:nvPr/>
        </p:nvSpPr>
        <p:spPr>
          <a:xfrm>
            <a:off x="809244" y="2475738"/>
            <a:ext cx="8915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700"/>
              <a:buFont typeface="Calibri"/>
              <a:buNone/>
            </a:pPr>
            <a:r>
              <a:rPr b="1" i="0" lang="en-GB" sz="7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Phase 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2"/>
          <p:cNvSpPr/>
          <p:nvPr/>
        </p:nvSpPr>
        <p:spPr>
          <a:xfrm>
            <a:off x="1577340" y="2475738"/>
            <a:ext cx="28117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Schema RAG (ChromaDB)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4697730" y="2462022"/>
            <a:ext cx="4080510" cy="329184"/>
          </a:xfrm>
          <a:prstGeom prst="roundRect">
            <a:avLst>
              <a:gd fmla="val 14583" name="adj"/>
            </a:avLst>
          </a:prstGeom>
          <a:solidFill>
            <a:srgbClr val="FFFFFF">
              <a:alpha val="5882"/>
            </a:srgbClr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2"/>
          <p:cNvSpPr/>
          <p:nvPr/>
        </p:nvSpPr>
        <p:spPr>
          <a:xfrm>
            <a:off x="4793742" y="2516886"/>
            <a:ext cx="219456" cy="219456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heck.png" id="289" name="Google Shape;28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8606" y="2571750"/>
            <a:ext cx="109728" cy="109728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2"/>
          <p:cNvSpPr/>
          <p:nvPr/>
        </p:nvSpPr>
        <p:spPr>
          <a:xfrm>
            <a:off x="5095494" y="2475738"/>
            <a:ext cx="8915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700"/>
              <a:buFont typeface="Calibri"/>
              <a:buNone/>
            </a:pPr>
            <a:r>
              <a:rPr b="1" i="0" lang="en-GB" sz="7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Phase 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2"/>
          <p:cNvSpPr/>
          <p:nvPr/>
        </p:nvSpPr>
        <p:spPr>
          <a:xfrm>
            <a:off x="5863590" y="2475738"/>
            <a:ext cx="28117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SQL generation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2"/>
          <p:cNvSpPr/>
          <p:nvPr/>
        </p:nvSpPr>
        <p:spPr>
          <a:xfrm>
            <a:off x="411480" y="2887218"/>
            <a:ext cx="4080510" cy="329184"/>
          </a:xfrm>
          <a:prstGeom prst="roundRect">
            <a:avLst>
              <a:gd fmla="val 14583" name="adj"/>
            </a:avLst>
          </a:prstGeom>
          <a:solidFill>
            <a:srgbClr val="FFFFFF">
              <a:alpha val="5882"/>
            </a:srgbClr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2"/>
          <p:cNvSpPr/>
          <p:nvPr/>
        </p:nvSpPr>
        <p:spPr>
          <a:xfrm>
            <a:off x="507492" y="2942082"/>
            <a:ext cx="219456" cy="219456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heck.png" id="294" name="Google Shape;29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2356" y="2996946"/>
            <a:ext cx="109728" cy="109728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2"/>
          <p:cNvSpPr/>
          <p:nvPr/>
        </p:nvSpPr>
        <p:spPr>
          <a:xfrm>
            <a:off x="809244" y="2900934"/>
            <a:ext cx="8915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700"/>
              <a:buFont typeface="Calibri"/>
              <a:buNone/>
            </a:pPr>
            <a:r>
              <a:rPr b="1" i="0" lang="en-GB" sz="7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Phase 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2"/>
          <p:cNvSpPr/>
          <p:nvPr/>
        </p:nvSpPr>
        <p:spPr>
          <a:xfrm>
            <a:off x="1577340" y="2900934"/>
            <a:ext cx="28117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SQL validation &amp; execution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2"/>
          <p:cNvSpPr/>
          <p:nvPr/>
        </p:nvSpPr>
        <p:spPr>
          <a:xfrm>
            <a:off x="4697730" y="2887218"/>
            <a:ext cx="4080510" cy="329184"/>
          </a:xfrm>
          <a:prstGeom prst="roundRect">
            <a:avLst>
              <a:gd fmla="val 14583" name="adj"/>
            </a:avLst>
          </a:prstGeom>
          <a:solidFill>
            <a:srgbClr val="FFFFFF">
              <a:alpha val="5882"/>
            </a:srgbClr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2"/>
          <p:cNvSpPr/>
          <p:nvPr/>
        </p:nvSpPr>
        <p:spPr>
          <a:xfrm>
            <a:off x="4793742" y="2942082"/>
            <a:ext cx="219456" cy="219456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heck.png" id="299" name="Google Shape;29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8606" y="2996946"/>
            <a:ext cx="109728" cy="109728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2"/>
          <p:cNvSpPr/>
          <p:nvPr/>
        </p:nvSpPr>
        <p:spPr>
          <a:xfrm>
            <a:off x="5095494" y="2900934"/>
            <a:ext cx="8915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700"/>
              <a:buFont typeface="Calibri"/>
              <a:buNone/>
            </a:pPr>
            <a:r>
              <a:rPr b="1" i="0" lang="en-GB" sz="7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Phase 8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2"/>
          <p:cNvSpPr/>
          <p:nvPr/>
        </p:nvSpPr>
        <p:spPr>
          <a:xfrm>
            <a:off x="5863590" y="2900934"/>
            <a:ext cx="28117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LangGraph workflow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2"/>
          <p:cNvSpPr/>
          <p:nvPr/>
        </p:nvSpPr>
        <p:spPr>
          <a:xfrm>
            <a:off x="411480" y="3312414"/>
            <a:ext cx="4080510" cy="329184"/>
          </a:xfrm>
          <a:prstGeom prst="roundRect">
            <a:avLst>
              <a:gd fmla="val 14583" name="adj"/>
            </a:avLst>
          </a:prstGeom>
          <a:solidFill>
            <a:srgbClr val="FFFFFF">
              <a:alpha val="5882"/>
            </a:srgbClr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2"/>
          <p:cNvSpPr/>
          <p:nvPr/>
        </p:nvSpPr>
        <p:spPr>
          <a:xfrm>
            <a:off x="507492" y="3367278"/>
            <a:ext cx="219456" cy="219456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heck.png" id="304" name="Google Shape;30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2356" y="3422142"/>
            <a:ext cx="109728" cy="109728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2"/>
          <p:cNvSpPr/>
          <p:nvPr/>
        </p:nvSpPr>
        <p:spPr>
          <a:xfrm>
            <a:off x="809244" y="3326130"/>
            <a:ext cx="8915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700"/>
              <a:buFont typeface="Calibri"/>
              <a:buNone/>
            </a:pPr>
            <a:r>
              <a:rPr b="1" i="0" lang="en-GB" sz="7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Phase 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2"/>
          <p:cNvSpPr/>
          <p:nvPr/>
        </p:nvSpPr>
        <p:spPr>
          <a:xfrm>
            <a:off x="1577340" y="3326130"/>
            <a:ext cx="28117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Answer generation &amp; faithfulness check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2"/>
          <p:cNvSpPr/>
          <p:nvPr/>
        </p:nvSpPr>
        <p:spPr>
          <a:xfrm>
            <a:off x="4697730" y="3312414"/>
            <a:ext cx="4080510" cy="329184"/>
          </a:xfrm>
          <a:prstGeom prst="roundRect">
            <a:avLst>
              <a:gd fmla="val 14583" name="adj"/>
            </a:avLst>
          </a:prstGeom>
          <a:solidFill>
            <a:srgbClr val="FFFFFF">
              <a:alpha val="5882"/>
            </a:srgbClr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2"/>
          <p:cNvSpPr/>
          <p:nvPr/>
        </p:nvSpPr>
        <p:spPr>
          <a:xfrm>
            <a:off x="4793742" y="3367278"/>
            <a:ext cx="219456" cy="219456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heck.png" id="309" name="Google Shape;30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8606" y="3422142"/>
            <a:ext cx="109728" cy="109728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2"/>
          <p:cNvSpPr/>
          <p:nvPr/>
        </p:nvSpPr>
        <p:spPr>
          <a:xfrm>
            <a:off x="5095494" y="3326130"/>
            <a:ext cx="8915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700"/>
              <a:buFont typeface="Calibri"/>
              <a:buNone/>
            </a:pPr>
            <a:r>
              <a:rPr b="1" i="0" lang="en-GB" sz="7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Phase 10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2"/>
          <p:cNvSpPr/>
          <p:nvPr/>
        </p:nvSpPr>
        <p:spPr>
          <a:xfrm>
            <a:off x="5863590" y="3326130"/>
            <a:ext cx="28117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React frontend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2"/>
          <p:cNvSpPr/>
          <p:nvPr/>
        </p:nvSpPr>
        <p:spPr>
          <a:xfrm>
            <a:off x="411480" y="462915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C9C5"/>
              </a:buClr>
              <a:buSzPts val="900"/>
              <a:buFont typeface="Calibri"/>
              <a:buNone/>
            </a:pPr>
            <a:r>
              <a:rPr b="0" i="1" lang="en-GB" sz="900" u="none" cap="none" strike="noStrike">
                <a:solidFill>
                  <a:srgbClr val="9FC9C5"/>
                </a:solidFill>
                <a:latin typeface="Calibri"/>
                <a:ea typeface="Calibri"/>
                <a:cs typeface="Calibri"/>
                <a:sym typeface="Calibri"/>
              </a:rPr>
              <a:t>Next: expand the ground-truth and red-team query sets, and run the RAGAS faithfulness evaluation end-to-end.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2"/>
          <p:cNvSpPr/>
          <p:nvPr/>
        </p:nvSpPr>
        <p:spPr>
          <a:xfrm>
            <a:off x="8606790" y="4855464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679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5C7679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